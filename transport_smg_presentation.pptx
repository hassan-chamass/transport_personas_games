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2378FF-8CBC-D4C7-DE3D-AD5570ACD183}" v="1" dt="2026-06-18T09:45:52.530"/>
    <p1510:client id="{1F591BAA-57D5-E6EF-C282-B50F5FE5B34A}" v="103" dt="2026-06-17T21:07:54.156"/>
    <p1510:client id="{C763B702-3A8E-CBD0-1911-3B73EF832574}" v="119" dt="2026-06-17T10:59:15.6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fr-FR" sz="1200" b="0" i="0" u="none" strike="noStrike">
                <a:solidFill>
                  <a:srgbClr val="1E293B"/>
                </a:solidFill>
                <a:latin typeface="Arial"/>
              </a:rPr>
              <a:t>Min. Expected Travel Time (min)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Min. Expected Travel Time (min)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79C-42F3-B050-C62BE9BAA363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79C-42F3-B050-C62BE9BAA363}"/>
              </c:ext>
            </c:extLst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79C-42F3-B050-C62BE9BAA363}"/>
              </c:ext>
            </c:extLst>
          </c:dPt>
          <c:dPt>
            <c:idx val="3"/>
            <c:invertIfNegative val="0"/>
            <c:bubble3D val="0"/>
            <c:spPr>
              <a:solidFill>
                <a:srgbClr val="8B3A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79C-42F3-B050-C62BE9BAA363}"/>
              </c:ext>
            </c:extLst>
          </c:dPt>
          <c:dPt>
            <c:idx val="4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79C-42F3-B050-C62BE9BAA363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179C-42F3-B050-C62BE9BAA36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Elderly
(no car)</c:v>
                </c:pt>
                <c:pt idx="1">
                  <c:v>Less
Mobile</c:v>
                </c:pt>
                <c:pt idx="2">
                  <c:v>Young Low
Income</c:v>
                </c:pt>
                <c:pt idx="3">
                  <c:v>Heavy Car
User</c:v>
                </c:pt>
                <c:pt idx="4">
                  <c:v>Urban
Prof.</c:v>
                </c:pt>
                <c:pt idx="5">
                  <c:v>Young
Family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165</c:v>
                </c:pt>
                <c:pt idx="1">
                  <c:v>32</c:v>
                </c:pt>
                <c:pt idx="2">
                  <c:v>46</c:v>
                </c:pt>
                <c:pt idx="3">
                  <c:v>30</c:v>
                </c:pt>
                <c:pt idx="4">
                  <c:v>30</c:v>
                </c:pt>
                <c:pt idx="5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79C-42F3-B050-C62BE9BAA36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fr-FR" sz="1200" b="0" i="0" u="none" strike="noStrike">
                <a:solidFill>
                  <a:srgbClr val="1E293B"/>
                </a:solidFill>
                <a:latin typeface="Arial"/>
              </a:rPr>
              <a:t>Min. Expected CO2e Emissions (g)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Min. Expected CO2e (g)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BFD-4348-BE37-35220F456456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BFD-4348-BE37-35220F456456}"/>
              </c:ext>
            </c:extLst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BFD-4348-BE37-35220F456456}"/>
              </c:ext>
            </c:extLst>
          </c:dPt>
          <c:dPt>
            <c:idx val="3"/>
            <c:invertIfNegative val="0"/>
            <c:bubble3D val="0"/>
            <c:spPr>
              <a:solidFill>
                <a:srgbClr val="8B3A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BFD-4348-BE37-35220F456456}"/>
              </c:ext>
            </c:extLst>
          </c:dPt>
          <c:dPt>
            <c:idx val="4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BFD-4348-BE37-35220F456456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FBFD-4348-BE37-35220F45645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Elderly
(no car)</c:v>
                </c:pt>
                <c:pt idx="1">
                  <c:v>Less
Mobile</c:v>
                </c:pt>
                <c:pt idx="2">
                  <c:v>Young Low
Income</c:v>
                </c:pt>
                <c:pt idx="3">
                  <c:v>Heavy Car
User</c:v>
                </c:pt>
                <c:pt idx="4">
                  <c:v>Urban
Prof.</c:v>
                </c:pt>
                <c:pt idx="5">
                  <c:v>Young
Family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597</c:v>
                </c:pt>
                <c:pt idx="1">
                  <c:v>1189</c:v>
                </c:pt>
                <c:pt idx="2">
                  <c:v>66</c:v>
                </c:pt>
                <c:pt idx="3">
                  <c:v>540</c:v>
                </c:pt>
                <c:pt idx="4">
                  <c:v>66</c:v>
                </c:pt>
                <c:pt idx="5">
                  <c:v>540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BFD-4348-BE37-35220F4564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FC465-2A48-4342-9E48-8B4080F5929E}" type="datetimeFigureOut">
              <a:t>18/06/2026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063E17-8F90-493B-B23B-4DA4CFD9D81D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7687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Equity Analysis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Formal Verification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38404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6060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Turn-Based Stochastic Multi-Player Games  ·  UK DfT Transport Personas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Corridor: Giffnock → University of Glasgow  |  June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94960" y="4206240"/>
            <a:ext cx="749808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94960" y="420624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44768" y="4434840"/>
            <a:ext cx="27432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4206240"/>
            <a:ext cx="749808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420624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13448" y="4434840"/>
            <a:ext cx="27432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4206240"/>
            <a:ext cx="749808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32320" y="420624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Interchange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82128" y="4434840"/>
            <a:ext cx="27432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4206240"/>
            <a:ext cx="749808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01000" y="420624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Question Are We Asking?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3749040"/>
          </a:xfrm>
          <a:prstGeom prst="rect">
            <a:avLst/>
          </a:prstGeom>
          <a:solidFill>
            <a:srgbClr val="EEF5FA"/>
          </a:solidFill>
          <a:ln w="12700">
            <a:solidFill>
              <a:srgbClr val="C8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DfT Transport Personas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(no car)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Mobile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Low Income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Car User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Professional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Family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Less Affluent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Suburban Family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Nester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840480" cy="2286000"/>
          </a:xfrm>
          <a:prstGeom prst="rect">
            <a:avLst/>
          </a:prstGeom>
          <a:solidFill>
            <a:srgbClr val="EEF5FA"/>
          </a:solidFill>
          <a:ln w="12700">
            <a:solidFill>
              <a:srgbClr val="C8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0972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Transport Policies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474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(baseline)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Frequency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Fare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Charge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Service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3429000"/>
            <a:ext cx="3840480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592" y="3520440"/>
            <a:ext cx="3841057" cy="1143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Can formal verification reveal which transport policies best balance user cost, operator revenue and emissions across diverse 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traveller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types?</a:t>
            </a:r>
            <a:endParaRPr lang="fr-FR" dirty="0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Simulate?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2011680"/>
          </a:xfrm>
          <a:prstGeom prst="rect">
            <a:avLst/>
          </a:prstGeom>
          <a:solidFill>
            <a:srgbClr val="EEF5FA"/>
          </a:solidFill>
          <a:ln w="12700">
            <a:solidFill>
              <a:srgbClr val="C8DF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many random scenarios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statistical estimates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guarantee optimality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miss rare but critical events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average / distribution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60520" y="1645920"/>
            <a:ext cx="731520" cy="73152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6052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840480" cy="2011680"/>
          </a:xfrm>
          <a:prstGeom prst="rect">
            <a:avLst/>
          </a:prstGeom>
          <a:solidFill>
            <a:srgbClr val="E8F4FF"/>
          </a:solidFill>
          <a:ln w="25400">
            <a:solidFill>
              <a:srgbClr val="1C729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0972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Verification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Exhaustively explores all states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mathematical guarantees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provably optimal strategies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adversarial conditions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exact probability / value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Approach: Concurrent Stochastic Game (CSG)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0604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05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Navigates the journey;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mode step by step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37560" y="1005840"/>
            <a:ext cx="260604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005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29000" y="1508760"/>
            <a:ext cx="242316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Responds to </a:t>
            </a:r>
            <a:endParaRPr lang="en-US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accessibility requests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005840"/>
            <a:ext cx="2606040" cy="1234440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005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09360" y="15087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Adversarial: weather,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cancellations, disruptions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435" y="2574500"/>
            <a:ext cx="8265770" cy="2344162"/>
          </a:xfrm>
          <a:prstGeom prst="rect">
            <a:avLst/>
          </a:prstGeom>
          <a:solidFill>
            <a:srgbClr val="FFF0EE"/>
          </a:solidFill>
          <a:ln w="12700">
            <a:solidFill>
              <a:srgbClr val="E8B0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541" y="3154043"/>
            <a:ext cx="7772400" cy="868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b="1">
                <a:solidFill>
                  <a:srgbClr val="1E293B"/>
                </a:solidFill>
                <a:ea typeface="+mn-lt"/>
                <a:cs typeface="+mn-lt"/>
              </a:rPr>
              <a:t>Why we moved from CSG to SMG</a:t>
            </a:r>
            <a:endParaRPr lang="fr-FR" sz="1400" b="1">
              <a:ea typeface="Calibri"/>
              <a:cs typeface="Calibri"/>
            </a:endParaRPr>
          </a:p>
          <a:p>
            <a:endParaRPr lang="en-US" sz="1400" b="1" dirty="0">
              <a:solidFill>
                <a:srgbClr val="1E293B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250">
                <a:solidFill>
                  <a:srgbClr val="1E293B"/>
                </a:solidFill>
                <a:ea typeface="+mn-lt"/>
                <a:cs typeface="+mn-lt"/>
              </a:rPr>
              <a:t>Multi-objective not supported yet in CSG - Pareto fronts and combined reliability/cost queries (multi(...)) require a turn-based SMG.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 sz="1250" dirty="0">
              <a:solidFill>
                <a:srgbClr val="1E293B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250" dirty="0">
                <a:solidFill>
                  <a:srgbClr val="1E293B"/>
                </a:solidFill>
                <a:ea typeface="+mn-lt"/>
                <a:cs typeface="+mn-lt"/>
              </a:rPr>
              <a:t>Unrealistic simultaneity - In a CSG, environment and persona act simultaneously. In reality, a </a:t>
            </a:r>
            <a:r>
              <a:rPr lang="en-US" sz="1250" dirty="0" err="1">
                <a:solidFill>
                  <a:srgbClr val="1E293B"/>
                </a:solidFill>
                <a:ea typeface="+mn-lt"/>
                <a:cs typeface="+mn-lt"/>
              </a:rPr>
              <a:t>traveller</a:t>
            </a:r>
            <a:r>
              <a:rPr lang="en-US" sz="1250" dirty="0">
                <a:solidFill>
                  <a:srgbClr val="1E293B"/>
                </a:solidFill>
                <a:ea typeface="+mn-lt"/>
                <a:cs typeface="+mn-lt"/>
              </a:rPr>
              <a:t> first observes conditions, then decides. SMG enforces this naturally.</a:t>
            </a:r>
            <a:endParaRPr lang="en-US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to Turn-Based SMG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2286000"/>
          </a:xfrm>
          <a:prstGeom prst="rect">
            <a:avLst/>
          </a:prstGeom>
          <a:solidFill>
            <a:srgbClr val="E8F4FF"/>
          </a:solidFill>
          <a:ln w="25400">
            <a:solidFill>
              <a:srgbClr val="1C729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— Manager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exactly once at the start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a transport policy (0–4)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Probabilistically samples: weather, lift availability, accessible bus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control to the persona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43400" y="2148840"/>
            <a:ext cx="36576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0" y="1005840"/>
            <a:ext cx="3840480" cy="2286000"/>
          </a:xfrm>
          <a:prstGeom prst="rect">
            <a:avLst/>
          </a:prstGeom>
          <a:solidFill>
            <a:srgbClr val="EEF5FA"/>
          </a:solidFill>
          <a:ln w="25400">
            <a:solidFill>
              <a:srgbClr val="065A8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0972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Persona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60020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Navigates the journey step by step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mode at each location (bus, rail, taxi, walk…)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Faces probabilistic disruptions (delay / cancel)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until arrived at destination or gives up</a:t>
            </a:r>
            <a:endParaRPr lang="en-US" sz="1250" dirty="0"/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625777D9-C395-ED7B-FA10-B70B57B9704A}"/>
              </a:ext>
            </a:extLst>
          </p:cNvPr>
          <p:cNvSpPr/>
          <p:nvPr/>
        </p:nvSpPr>
        <p:spPr>
          <a:xfrm>
            <a:off x="464435" y="3566537"/>
            <a:ext cx="8265770" cy="1352125"/>
          </a:xfrm>
          <a:prstGeom prst="rect">
            <a:avLst/>
          </a:prstGeom>
          <a:solidFill>
            <a:srgbClr val="FFF0EE"/>
          </a:solidFill>
          <a:ln w="12700">
            <a:solidFill>
              <a:srgbClr val="E8B0A8"/>
            </a:solidFill>
            <a:prstDash val="solid"/>
          </a:ln>
        </p:spPr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66640949-6E17-A30F-6B82-A138D0CB6182}"/>
              </a:ext>
            </a:extLst>
          </p:cNvPr>
          <p:cNvSpPr/>
          <p:nvPr/>
        </p:nvSpPr>
        <p:spPr>
          <a:xfrm>
            <a:off x="461541" y="3455967"/>
            <a:ext cx="7772400" cy="50205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endParaRPr lang="en-US" sz="1400" b="1" dirty="0">
              <a:solidFill>
                <a:srgbClr val="1E293B"/>
              </a:solidFill>
              <a:ea typeface="+mn-lt"/>
              <a:cs typeface="+mn-lt"/>
            </a:endParaRPr>
          </a:p>
          <a:p>
            <a:endParaRPr lang="en-US" sz="1400" b="1" dirty="0">
              <a:solidFill>
                <a:srgbClr val="1E293B"/>
              </a:solidFill>
              <a:ea typeface="+mn-lt"/>
              <a:cs typeface="+mn-lt"/>
            </a:endParaRPr>
          </a:p>
          <a:p>
            <a:endParaRPr lang="en-US" sz="1400" b="1" dirty="0">
              <a:solidFill>
                <a:srgbClr val="1E293B"/>
              </a:solidFill>
              <a:ea typeface="+mn-lt"/>
              <a:cs typeface="+mn-lt"/>
            </a:endParaRPr>
          </a:p>
          <a:p>
            <a:endParaRPr lang="en-US" sz="1400" b="1" dirty="0">
              <a:solidFill>
                <a:srgbClr val="1E293B"/>
              </a:solidFill>
              <a:ea typeface="+mn-lt"/>
              <a:cs typeface="+mn-lt"/>
            </a:endParaRPr>
          </a:p>
          <a:p>
            <a:endParaRPr lang="en-US" sz="1400" b="1" dirty="0">
              <a:solidFill>
                <a:srgbClr val="1E293B"/>
              </a:solidFill>
              <a:ea typeface="+mn-lt"/>
              <a:cs typeface="+mn-lt"/>
            </a:endParaRPr>
          </a:p>
          <a:p>
            <a:r>
              <a:rPr lang="en-US" sz="1400" b="1">
                <a:solidFill>
                  <a:srgbClr val="1E293B"/>
                </a:solidFill>
                <a:ea typeface="+mn-lt"/>
                <a:cs typeface="+mn-lt"/>
              </a:rPr>
              <a:t>The environment</a:t>
            </a:r>
            <a:r>
              <a:rPr lang="en-US" sz="1400" b="1" dirty="0">
                <a:solidFill>
                  <a:srgbClr val="1E293B"/>
                </a:solidFill>
                <a:ea typeface="+mn-lt"/>
                <a:cs typeface="+mn-lt"/>
              </a:rPr>
              <a:t> ?</a:t>
            </a:r>
            <a:endParaRPr lang="en-US" sz="1400" b="1">
              <a:solidFill>
                <a:srgbClr val="1E293B"/>
              </a:solidFill>
              <a:ea typeface="Calibri"/>
              <a:cs typeface="Calibri"/>
            </a:endParaRPr>
          </a:p>
          <a:p>
            <a:endParaRPr lang="en-US" sz="1400" b="1" dirty="0">
              <a:solidFill>
                <a:srgbClr val="1E293B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250">
                <a:solidFill>
                  <a:srgbClr val="1E293B"/>
                </a:solidFill>
                <a:ea typeface="+mn-lt"/>
                <a:cs typeface="+mn-lt"/>
              </a:rPr>
              <a:t>Player -&gt; adversarial -&gt; worst case scenario : not what we want</a:t>
            </a:r>
          </a:p>
          <a:p>
            <a:pPr marL="285750" indent="-285750">
              <a:buFont typeface="Arial"/>
              <a:buChar char="•"/>
            </a:pPr>
            <a:endParaRPr lang="en-US" sz="1250" dirty="0">
              <a:solidFill>
                <a:srgbClr val="1E293B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250">
                <a:solidFill>
                  <a:srgbClr val="1E293B"/>
                </a:solidFill>
                <a:ea typeface="+mn-lt"/>
                <a:cs typeface="+mn-lt"/>
              </a:rPr>
              <a:t>Stochastic -&gt; more realistic</a:t>
            </a:r>
            <a:endParaRPr lang="en-US" sz="1250" dirty="0">
              <a:solidFill>
                <a:srgbClr val="1E293B"/>
              </a:solidFill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 —  Giffnock → UofG, Low Disruption Scenario</a:t>
            </a:r>
            <a:endParaRPr lang="en-US" sz="2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868680"/>
          <a:ext cx="41148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663440" y="868680"/>
          <a:ext cx="41148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1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02920" y="4453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All 9 personas reach destination with probability 1.0 under low disruption with the 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operator cooperation  ·  Under high disruption: elderly (no </a:t>
            </a:r>
            <a:r>
              <a:rPr lang="en-US" sz="11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car) has 20% chance of abandoning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Strategy Visualisation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0" cy="3794760"/>
          </a:xfrm>
          <a:prstGeom prst="rect">
            <a:avLst/>
          </a:prstGeom>
          <a:solidFill>
            <a:srgbClr val="EEF5FA"/>
          </a:solidFill>
          <a:ln w="12700">
            <a:solidFill>
              <a:srgbClr val="C8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3291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PRISM-games exports the optimal strategy as a .dot graph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= a game state (location, policy, weather, mode...)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edge = optimal action to take at that state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Colour-coded: green = arrived, red = abandoned, blue border = initial state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9120" y="1005840"/>
            <a:ext cx="4297680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0" y="10972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481328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road charge policy, elderly_no_car always takes bus — even though rail is faster.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rail fare + taxi final leg &gt; fare budget. Bus is free (bus pass).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3017520"/>
            <a:ext cx="4297680" cy="1828800"/>
          </a:xfrm>
          <a:prstGeom prst="rect">
            <a:avLst/>
          </a:prstGeom>
          <a:solidFill>
            <a:srgbClr val="EEF5FA"/>
          </a:solidFill>
          <a:ln w="12700">
            <a:solidFill>
              <a:srgbClr val="C8DF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3108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optimal path (elderly_no_car · road_charge policy):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0" y="350215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  →  walk_to_stop  →  board_bus  →  final_leg_bus  →  Arrived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39319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delayed: wait → retry.   If cancelled: walk home → retry.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1463040"/>
            <a:ext cx="457200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C8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286000" y="14630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i="1" dirty="0">
              <a:solidFill>
                <a:srgbClr val="64748B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Affichage à l'écran (16:9)</PresentationFormat>
  <Paragraphs>0</Paragraphs>
  <Slides>8</Slides>
  <Notes>8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Transport Equity Analysis via Formal Verification</dc:title>
  <dc:subject>PptxGenJS Presentation</dc:subject>
  <dc:creator>Hassan Chamas</dc:creator>
  <cp:lastModifiedBy>Hassan Chamas</cp:lastModifiedBy>
  <cp:revision>83</cp:revision>
  <dcterms:created xsi:type="dcterms:W3CDTF">2026-06-17T10:30:19Z</dcterms:created>
  <dcterms:modified xsi:type="dcterms:W3CDTF">2026-06-18T15:50:15Z</dcterms:modified>
</cp:coreProperties>
</file>