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72199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Equity Analysis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Formal Verification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423160"/>
            <a:ext cx="3840480" cy="457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Turn-Based Stochastic Multi-Player Games  ·  UK DfT Transport Personas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09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Corridor: Giffnock → University of Glasgow  |  Updated 21 July 2026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94960" y="4206240"/>
            <a:ext cx="749808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508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394960" y="4206240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44768" y="4434840"/>
            <a:ext cx="13716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6281928" y="4206240"/>
            <a:ext cx="749808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508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281928" y="4206240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031736" y="4434840"/>
            <a:ext cx="13716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7168896" y="4206240"/>
            <a:ext cx="749808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508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7168896" y="4206240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Interchange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18704" y="4434840"/>
            <a:ext cx="137160" cy="0"/>
          </a:xfrm>
          <a:prstGeom prst="line">
            <a:avLst/>
          </a:prstGeom>
          <a:noFill/>
          <a:ln w="190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8055864" y="4206240"/>
            <a:ext cx="749808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50800" dist="127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8055864" y="4206240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Question Are We Asking?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3840480" cy="2331720"/>
          </a:xfrm>
          <a:prstGeom prst="roundRect">
            <a:avLst>
              <a:gd name="adj" fmla="val 3137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94360" y="10972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DfT Transport Personas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481328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 (no car)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Mobile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Low Income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Less Affluent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Family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31720" y="1481328"/>
            <a:ext cx="16916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Professional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Suburban Family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Nester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Car User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434840" y="960120"/>
            <a:ext cx="2148840" cy="2331720"/>
          </a:xfrm>
          <a:prstGeom prst="roundRect">
            <a:avLst>
              <a:gd name="adj" fmla="val 3404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0" y="1097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Transport Policies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0" y="1463040"/>
            <a:ext cx="1920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(baseline)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Frequency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Fare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Charge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Accessible Service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20840" y="96012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903720" y="1143000"/>
            <a:ext cx="1645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formal verification reveal which transport policies best balance user cost, operator revenue and emissions across diverse traveller types?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Just Simulate?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10058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94360" y="11430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709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94360" y="15087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many random scenarios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statistical estimates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guarantee optimality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miss rare but critical events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44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average / distribution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17720" y="1005840"/>
            <a:ext cx="4114800" cy="2926080"/>
          </a:xfrm>
          <a:prstGeom prst="roundRect">
            <a:avLst>
              <a:gd name="adj" fmla="val 25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80060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Verification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800600" y="1508760"/>
            <a:ext cx="3749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Exhaustively explores all states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mathematical guarantees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provably optimal strategies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adversarial conditions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exact probability / value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2B06DBDF-8C0E-434C-0A90-15D15EF1B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20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879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Approach: Concurrent Stochastic Game (CSG)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Navigates the journey;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mode step by step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200400" y="9601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3337560" y="10515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337560" y="13716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Responds to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requests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89320" y="96012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8A2E2E"/>
          </a:solidFill>
          <a:ln w="12700">
            <a:solidFill>
              <a:srgbClr val="8A2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6126480" y="10515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126480" y="13716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Adversarial: weather,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cancellations, disruptions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11480" y="2423160"/>
            <a:ext cx="8321040" cy="1554480"/>
          </a:xfrm>
          <a:prstGeom prst="roundRect">
            <a:avLst>
              <a:gd name="adj" fmla="val 4706"/>
            </a:avLst>
          </a:prstGeom>
          <a:solidFill>
            <a:srgbClr val="FDEDEA"/>
          </a:solidFill>
          <a:ln w="12700">
            <a:solidFill>
              <a:srgbClr val="FDEDE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94360" y="254203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moved from CSG to SMG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" y="2852928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not supported in CSG — Pareto fronts and combined reliability/cost queries (multi(...)) require a turn-based SMG.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Unrealistic simultaneity — in a CSG, environment and persona act at once. In reality a traveller first observes conditions, then decides. SMG enforces this naturally.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to Turn-Based SMG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96012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94360" y="1051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— Manager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exactly once at the start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a transport policy (0–4)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Probabilistically samples: weather, lift availability, accessible bus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control to the persona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4526280" y="960120"/>
            <a:ext cx="4206240" cy="1828800"/>
          </a:xfrm>
          <a:prstGeom prst="roundRect">
            <a:avLst>
              <a:gd name="adj" fmla="val 4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709160" y="10515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— Persona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09160" y="13716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Navigates the journey step by step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mode at each location (bus, rail, taxi, walk…)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Faces probabilistic disruptions (delay / cancel)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until arrived at destination or gives up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691640"/>
          </a:xfrm>
          <a:prstGeom prst="roundRect">
            <a:avLst>
              <a:gd name="adj" fmla="val 4324"/>
            </a:avLst>
          </a:prstGeom>
          <a:solidFill>
            <a:srgbClr val="FDEDEA"/>
          </a:solidFill>
          <a:ln w="12700">
            <a:solidFill>
              <a:srgbClr val="FDEDE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94360" y="3090672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disruptions aren't a third player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" y="3401568"/>
            <a:ext cx="7955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adversarial environment player would force worst-case-only analysis — too pessimistic for comparing realistic policies.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9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Disruptions (delay, cancellation, lift failure) are instead embedded as fixed probabilities inside the persona's own actions: more realistic, and still fully quantitative.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the Manager a Real Objective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321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generalized_cost: the persona's true objective — time, fare and walking distance combined via per-persona weights (value of time, fare sensitivity, walking aversion).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fares actually paid, plus road-charge income — the operator's income side.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policy_cost: subsidies (low fare) and amortised fixed costs (high frequency, accessible service) — the operator's spending side.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Framed as a Stackelberg game: the manager commits to one policy, the persona then reacts optimally — we compute that best response exactly for each of the 5 policies.</a:t>
            </a:r>
            <a:endParaRPr lang="en-US" sz="1250" dirty="0"/>
          </a:p>
        </p:txBody>
      </p:sp>
      <p:pic>
        <p:nvPicPr>
          <p:cNvPr id="4" name="Image 0" descr="fig8_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06040"/>
            <a:ext cx="7315200" cy="240304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 — Reliability &amp; Time, High Disruption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868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709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personas, all 5 policies, high-disruption scenario (current model — attempt/ride split, corrected fares, audited persona parameters).</a:t>
            </a:r>
            <a:endParaRPr lang="en-US" sz="1150" dirty="0"/>
          </a:p>
        </p:txBody>
      </p:sp>
      <p:pic>
        <p:nvPicPr>
          <p:cNvPr id="4" name="Image 0" descr="fig1_hi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325880"/>
            <a:ext cx="4160520" cy="2455164"/>
          </a:xfrm>
          <a:prstGeom prst="rect">
            <a:avLst/>
          </a:prstGeom>
        </p:spPr>
      </p:pic>
      <p:pic>
        <p:nvPicPr>
          <p:cNvPr id="5" name="Image 1" descr="figtime_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325880"/>
            <a:ext cx="4160520" cy="246522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11480" y="388620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low disruption, all 9 personas reach the destination with probability 1.0 regardless of policy — the gap only opens up once disruption is severe.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Car-Lock-In: When Cost Can't Be Escaped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896112"/>
            <a:ext cx="8321040" cy="777240"/>
          </a:xfrm>
          <a:prstGeom prst="roundRect">
            <a:avLst>
              <a:gd name="adj" fmla="val 9412"/>
            </a:avLst>
          </a:prstGeom>
          <a:solidFill>
            <a:srgbClr val="FDEDEA"/>
          </a:solidFill>
          <a:ln w="12700">
            <a:solidFill>
              <a:srgbClr val="FDEDE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94360" y="987552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less_mobile: generalized cost 396 → 896 equivalent pence under Road Charge (a flat +500p pass-through) — in </a:t>
            </a:r>
            <a:r>
              <a:rPr lang="en-US" sz="1250" b="1" i="1" dirty="0">
                <a:solidFill>
                  <a:srgbClr val="9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</a:t>
            </a:r>
            <a:r>
              <a:rPr lang="en-US" sz="1250" b="1" dirty="0">
                <a:solidFill>
                  <a:srgbClr val="9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policy, arrival probability stays exactly 1.0. No behavioural escape route exists.</a:t>
            </a:r>
            <a:endParaRPr lang="en-US" sz="1250" dirty="0"/>
          </a:p>
        </p:txBody>
      </p:sp>
      <p:pic>
        <p:nvPicPr>
          <p:cNvPr id="5" name="Image 0" descr="fig5_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104" y="1828800"/>
            <a:ext cx="5193792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Modelling Lesson: The Free-Abandonment Bias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868680"/>
            <a:ext cx="8321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give_up costs ≈ 0 in generalized_cost. As a policy makes paying more costly, “try the free option, abandon if it fails” becomes attractive — pulling the raw expectation down and creating apparent (false) improvements.</a:t>
            </a:r>
            <a:endParaRPr lang="en-US" sz="1150" dirty="0"/>
          </a:p>
        </p:txBody>
      </p:sp>
      <p:pic>
        <p:nvPicPr>
          <p:cNvPr id="4" name="Image 0" descr="fig5_hig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45920"/>
            <a:ext cx="4160520" cy="2416759"/>
          </a:xfrm>
          <a:prstGeom prst="rect">
            <a:avLst/>
          </a:prstGeom>
        </p:spPr>
      </p:pic>
      <p:pic>
        <p:nvPicPr>
          <p:cNvPr id="5" name="Image 1" descr="fig5b_hig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645920"/>
            <a:ext cx="4160520" cy="241950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11480" y="416052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09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condition on success — divide by P(arrival) — to see cost given the journey actually completes (right).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Tooling: Parameter Sweeps On Demand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8321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 app drives PRISM directly from editable persona / scenario / fare JSON — no hand-written PRISM invocations.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button on key constants (fares, surcharges, disruption probabilities): runs PRISM's native ranged constants in one pass, not one call per value.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stream live; charts export straight to SVG/PNG for reports and slides like this one.</a:t>
            </a:r>
            <a:endParaRPr lang="en-US" sz="1250" dirty="0"/>
          </a:p>
        </p:txBody>
      </p:sp>
      <p:pic>
        <p:nvPicPr>
          <p:cNvPr id="4" name="Image 0" descr="sweep_r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6" y="2377440"/>
            <a:ext cx="5605272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92608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Validating Inputs Against the Official DfT Personas Pack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11480" y="86868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personas checked against DfT's “Meet the Personas” pack. 4 values corrected: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11480" y="1325880"/>
            <a:ext cx="8321040" cy="566928"/>
          </a:xfrm>
          <a:prstGeom prst="roundRect">
            <a:avLst>
              <a:gd name="adj" fmla="val 1290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less_mobile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01752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HAS_BUS_PASS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212080" y="132588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B0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92240" y="132588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09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1984248"/>
            <a:ext cx="8321040" cy="566928"/>
          </a:xfrm>
          <a:prstGeom prst="roundRect">
            <a:avLst>
              <a:gd name="adj" fmla="val 1290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594360" y="19842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heavy_car_user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017520" y="19842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W_TIME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212080" y="198424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B0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492240" y="198424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09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19842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11480" y="2642616"/>
            <a:ext cx="8321040" cy="566928"/>
          </a:xfrm>
          <a:prstGeom prst="roundRect">
            <a:avLst>
              <a:gd name="adj" fmla="val 1290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94360" y="264261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elderly_no_car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017520" y="264261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W_FARE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212080" y="264261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B0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92240" y="264261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09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0" y="26426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11480" y="3300984"/>
            <a:ext cx="8321040" cy="566928"/>
          </a:xfrm>
          <a:prstGeom prst="roundRect">
            <a:avLst>
              <a:gd name="adj" fmla="val 12903"/>
            </a:avLst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94360" y="330098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urban_professional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3017520" y="330098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W_TIME / W_FARE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212080" y="3300984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B04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1.0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492240" y="33009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098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0" y="330098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7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1.2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&amp; Next Steps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377440" cy="4114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7863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manager/persona SMG, generalized_cost + revenue/policy_cost rewards, 63 properties, validated against real PRISM runs.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Tooling: webapp with parameter sweeps, figure generation, chart export — all 9 personas × 5 policies × 2 scenarios reproducible on demand.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limitation: free-abandonment bias identified and mitigated for display; a structural (headway) fix remains a documented option, not yet built.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E8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short paper drafted— venue and exact numbers still to be finalised.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924</Words>
  <Application>Microsoft Office PowerPoint</Application>
  <PresentationFormat>Affichage à l'écran (16:9)</PresentationFormat>
  <Paragraphs>122</Paragraphs>
  <Slides>13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Hassan Chamass</cp:lastModifiedBy>
  <cp:revision>2</cp:revision>
  <dcterms:created xsi:type="dcterms:W3CDTF">2026-07-21T14:10:34Z</dcterms:created>
  <dcterms:modified xsi:type="dcterms:W3CDTF">2026-07-21T15:55:05Z</dcterms:modified>
</cp:coreProperties>
</file>